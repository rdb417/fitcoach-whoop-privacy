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" id="{de9a0187-120f-29f5-f153-de0f86a3f12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2024</c:v>
                  </c:pt>
                  <c:pt idx="19">
                    <c:v>2025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15.992</c:v>
                </c:pt>
                <c:pt idx="1">
                  <c:v>16.313</c:v>
                </c:pt>
                <c:pt idx="2">
                  <c:v>16.331</c:v>
                </c:pt>
                <c:pt idx="3">
                  <c:v>15.91</c:v>
                </c:pt>
                <c:pt idx="4">
                  <c:v>16.339</c:v>
                </c:pt>
                <c:pt idx="5">
                  <c:v>16.595</c:v>
                </c:pt>
                <c:pt idx="6">
                  <c:v>16.975</c:v>
                </c:pt>
                <c:pt idx="7">
                  <c:v>17.334</c:v>
                </c:pt>
                <c:pt idx="8">
                  <c:v>17.772</c:v>
                </c:pt>
                <c:pt idx="9">
                  <c:v>18.295</c:v>
                </c:pt>
                <c:pt idx="10">
                  <c:v>18.628</c:v>
                </c:pt>
                <c:pt idx="11">
                  <c:v>19.086</c:v>
                </c:pt>
                <c:pt idx="12">
                  <c:v>19.652</c:v>
                </c:pt>
                <c:pt idx="13">
                  <c:v>20.16</c:v>
                </c:pt>
                <c:pt idx="14">
                  <c:v>19.74</c:v>
                </c:pt>
                <c:pt idx="15">
                  <c:v>20.954</c:v>
                </c:pt>
                <c:pt idx="16">
                  <c:v>21.483</c:v>
                </c:pt>
                <c:pt idx="17">
                  <c:v>22.114</c:v>
                </c:pt>
                <c:pt idx="18">
                  <c:v>22.731</c:v>
                </c:pt>
                <c:pt idx="19">
                  <c:v>23.223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2024</c:v>
                  </c:pt>
                  <c:pt idx="19">
                    <c:v>2025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5.091</c:v>
                </c:pt>
                <c:pt idx="1">
                  <c:v>5.811</c:v>
                </c:pt>
                <c:pt idx="2">
                  <c:v>6.373</c:v>
                </c:pt>
                <c:pt idx="3">
                  <c:v>6.973</c:v>
                </c:pt>
                <c:pt idx="4">
                  <c:v>7.711</c:v>
                </c:pt>
                <c:pt idx="5">
                  <c:v>8.441</c:v>
                </c:pt>
                <c:pt idx="6">
                  <c:v>9.104</c:v>
                </c:pt>
                <c:pt idx="7">
                  <c:v>9.813</c:v>
                </c:pt>
                <c:pt idx="8">
                  <c:v>10.545</c:v>
                </c:pt>
                <c:pt idx="9">
                  <c:v>11.281</c:v>
                </c:pt>
                <c:pt idx="10">
                  <c:v>12.045</c:v>
                </c:pt>
                <c:pt idx="11">
                  <c:v>12.875</c:v>
                </c:pt>
                <c:pt idx="12">
                  <c:v>13.745</c:v>
                </c:pt>
                <c:pt idx="13">
                  <c:v>14.579</c:v>
                </c:pt>
                <c:pt idx="14">
                  <c:v>14.92</c:v>
                </c:pt>
                <c:pt idx="15">
                  <c:v>16.199</c:v>
                </c:pt>
                <c:pt idx="16">
                  <c:v>16.706</c:v>
                </c:pt>
                <c:pt idx="17">
                  <c:v>17.611</c:v>
                </c:pt>
                <c:pt idx="18">
                  <c:v>18.484</c:v>
                </c:pt>
                <c:pt idx="19">
                  <c:v>19.401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1BAF7A"/>
            </a:solidFill>
            <a:ln w="28575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2024</c:v>
                  </c:pt>
                  <c:pt idx="19">
                    <c:v>2025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3.086</c:v>
                </c:pt>
                <c:pt idx="1">
                  <c:v>3.175</c:v>
                </c:pt>
                <c:pt idx="2">
                  <c:v>3.203</c:v>
                </c:pt>
                <c:pt idx="3">
                  <c:v>3.026</c:v>
                </c:pt>
                <c:pt idx="4">
                  <c:v>3.151</c:v>
                </c:pt>
                <c:pt idx="5">
                  <c:v>3.269</c:v>
                </c:pt>
                <c:pt idx="6">
                  <c:v>3.284</c:v>
                </c:pt>
                <c:pt idx="7">
                  <c:v>3.297</c:v>
                </c:pt>
                <c:pt idx="8">
                  <c:v>3.369</c:v>
                </c:pt>
                <c:pt idx="9">
                  <c:v>3.425</c:v>
                </c:pt>
                <c:pt idx="10">
                  <c:v>3.501</c:v>
                </c:pt>
                <c:pt idx="11">
                  <c:v>3.599</c:v>
                </c:pt>
                <c:pt idx="12">
                  <c:v>3.64</c:v>
                </c:pt>
                <c:pt idx="13">
                  <c:v>3.676</c:v>
                </c:pt>
                <c:pt idx="14">
                  <c:v>3.524</c:v>
                </c:pt>
                <c:pt idx="15">
                  <c:v>3.662</c:v>
                </c:pt>
                <c:pt idx="16">
                  <c:v>3.728</c:v>
                </c:pt>
                <c:pt idx="17">
                  <c:v>3.695</c:v>
                </c:pt>
                <c:pt idx="18">
                  <c:v>3.677</c:v>
                </c:pt>
                <c:pt idx="19">
                  <c:v>3.686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14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2514E"/>
                    </a:solidFill>
                    <a:latin typeface="+mn-lt"/>
                  </a:rPr>
                  <a:t>Trillions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Real-terms series as provided by the user; first unlabeled row assumed to be 2006. Japan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United States, China, and Germany, 2006–2025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Japan removed from the original comparison. Values in trillions, as provided.</a:t>
            </a:r>
            <a:endParaRPr lang="en-US" sz="1600" dirty="0"/>
          </a:p>
        </p:txBody>
      </p:sp>
      <p:graphicFrame>
        <p:nvGraphicFramePr>
          <p:cNvPr id="4" name="Line chart" descr=""/>
          <p:cNvGraphicFramePr/>
          <p:nvPr/>
        </p:nvGraphicFramePr>
        <p:xfrm>
          <a:off x="457200" y="1691640"/>
          <a:ext cx="81381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United States card"/>
          <p:cNvSpPr/>
          <p:nvPr/>
        </p:nvSpPr>
        <p:spPr>
          <a:xfrm>
            <a:off x="8961120" y="182880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United States swatch"/>
          <p:cNvSpPr/>
          <p:nvPr/>
        </p:nvSpPr>
        <p:spPr>
          <a:xfrm>
            <a:off x="9189720" y="2075688"/>
            <a:ext cx="146304" cy="14630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United States label"/>
          <p:cNvSpPr txBox="1"/>
          <p:nvPr/>
        </p:nvSpPr>
        <p:spPr>
          <a:xfrm>
            <a:off x="94183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United States</a:t>
            </a:r>
            <a:endParaRPr lang="en-US" sz="1400" dirty="0"/>
          </a:p>
        </p:txBody>
      </p:sp>
      <p:sp>
        <p:nvSpPr>
          <p:cNvPr id="8" name="United States value"/>
          <p:cNvSpPr txBox="1"/>
          <p:nvPr/>
        </p:nvSpPr>
        <p:spPr>
          <a:xfrm>
            <a:off x="9189720" y="2331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23.2</a:t>
            </a:r>
            <a:endParaRPr lang="en-US" sz="3200" dirty="0"/>
          </a:p>
        </p:txBody>
      </p:sp>
      <p:sp>
        <p:nvSpPr>
          <p:cNvPr id="9" name="United States growth"/>
          <p:cNvSpPr txBox="1"/>
          <p:nvPr/>
        </p:nvSpPr>
        <p:spPr>
          <a:xfrm>
            <a:off x="10332720" y="2331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+45%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since 2006 (1.5x)</a:t>
            </a:r>
            <a:endParaRPr lang="en-US" sz="1100" dirty="0"/>
          </a:p>
        </p:txBody>
      </p:sp>
      <p:sp>
        <p:nvSpPr>
          <p:cNvPr id="10" name="China card"/>
          <p:cNvSpPr/>
          <p:nvPr/>
        </p:nvSpPr>
        <p:spPr>
          <a:xfrm>
            <a:off x="896112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hina swatch"/>
          <p:cNvSpPr/>
          <p:nvPr/>
        </p:nvSpPr>
        <p:spPr>
          <a:xfrm>
            <a:off x="9189720" y="3584448"/>
            <a:ext cx="146304" cy="14630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China label"/>
          <p:cNvSpPr txBox="1"/>
          <p:nvPr/>
        </p:nvSpPr>
        <p:spPr>
          <a:xfrm>
            <a:off x="941832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China</a:t>
            </a:r>
            <a:endParaRPr lang="en-US" sz="1400" dirty="0"/>
          </a:p>
        </p:txBody>
      </p:sp>
      <p:sp>
        <p:nvSpPr>
          <p:cNvPr id="13" name="China value"/>
          <p:cNvSpPr txBox="1"/>
          <p:nvPr/>
        </p:nvSpPr>
        <p:spPr>
          <a:xfrm>
            <a:off x="9189720" y="3840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19.4</a:t>
            </a:r>
            <a:endParaRPr lang="en-US" sz="3200" dirty="0"/>
          </a:p>
        </p:txBody>
      </p:sp>
      <p:sp>
        <p:nvSpPr>
          <p:cNvPr id="14" name="China growth"/>
          <p:cNvSpPr txBox="1"/>
          <p:nvPr/>
        </p:nvSpPr>
        <p:spPr>
          <a:xfrm>
            <a:off x="10332720" y="3840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+281%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since 2006 (3.8x)</a:t>
            </a:r>
            <a:endParaRPr lang="en-US" sz="1100" dirty="0"/>
          </a:p>
        </p:txBody>
      </p:sp>
      <p:sp>
        <p:nvSpPr>
          <p:cNvPr id="15" name="Germany card"/>
          <p:cNvSpPr/>
          <p:nvPr/>
        </p:nvSpPr>
        <p:spPr>
          <a:xfrm>
            <a:off x="8961120" y="48463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Germany swatch"/>
          <p:cNvSpPr/>
          <p:nvPr/>
        </p:nvSpPr>
        <p:spPr>
          <a:xfrm>
            <a:off x="9189720" y="5093208"/>
            <a:ext cx="146304" cy="14630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Germany label"/>
          <p:cNvSpPr txBox="1"/>
          <p:nvPr/>
        </p:nvSpPr>
        <p:spPr>
          <a:xfrm>
            <a:off x="941832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Germany</a:t>
            </a:r>
            <a:endParaRPr lang="en-US" sz="1400" dirty="0"/>
          </a:p>
        </p:txBody>
      </p:sp>
      <p:sp>
        <p:nvSpPr>
          <p:cNvPr id="18" name="Germany value"/>
          <p:cNvSpPr txBox="1"/>
          <p:nvPr/>
        </p:nvSpPr>
        <p:spPr>
          <a:xfrm>
            <a:off x="9189720" y="5349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3.7</a:t>
            </a:r>
            <a:endParaRPr lang="en-US" sz="3200" dirty="0"/>
          </a:p>
        </p:txBody>
      </p:sp>
      <p:sp>
        <p:nvSpPr>
          <p:cNvPr id="19" name="Germany growth"/>
          <p:cNvSpPr txBox="1"/>
          <p:nvPr/>
        </p:nvSpPr>
        <p:spPr>
          <a:xfrm>
            <a:off x="10332720" y="5349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+19%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since 2006 (1.2x)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P Comparison">
  <a:themeElements>
    <a:clrScheme name="GDP Comparison">
      <a:dk1>
        <a:srgbClr val="0B0B0B"/>
      </a:dk1>
      <a:lt1>
        <a:srgbClr val="FFFFFF"/>
      </a:lt1>
      <a:dk2>
        <a:srgbClr val="52514E"/>
      </a:dk2>
      <a:lt2>
        <a:srgbClr val="F4F4F2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GDP Comparis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2026-10-12T21:09:41Z</dcterms:created>
  <dcterms:modified xsi:type="dcterms:W3CDTF">2026-10-12T21:09:41Z</dcterms:modified>
</cp:coreProperties>
</file>