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Most people assume their best opportunities come from their closest relationships. The research says the opposite. Your close friends all know each other and hear the same things, so their information is redundant. The people you see occasionally sit in other circles, and they are the bridges that carry genuinely new information: jobs, ideas, introductions.
Evidence:
1) Granovetter (1973), "The Strength of Weak Ties," American Journal of Sociology 78(6). Survey of professional, technical and managerial job changers in Newton, MA. Of those who found their job through a personal contact (n=54): 16.7% saw the contact often, 55.6% occasionally, 27.8% rarely. 55.6 + 27.8 = 83.4%.
2) Rajkumar, Saint-Jacques, Bojinov, Brynjolfsson, Aral (2022), "A causal test of the strength of weak ties," Science 377(6612): 1304-1310. Randomized experiments on LinkedIn's People You May Know feature across 20M+ users over five years (about 2B new ties, 600K new jobs). The relationship is an inverted U: moderately weak ties produced the most job mobility, not the weakest. Weak ties mattered more in digital industries; strong ties mattered more in less digital ones.
Caveat to avoid overclaiming: the 1973 figure comes from a small sample (54 people). The 2022 LinkedIn study is the large causal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914400"/>
            <a:ext cx="8229600" cy="36576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t"/>
          <a:lstStyle/>
          <a:p>
            <a:pPr algn="l" indent="0" marL="0">
              <a:buNone/>
            </a:pPr>
            <a:r>
              <a:rPr lang="en-US" sz="3000" b="1" dirty="0">
                <a:solidFill>
                  <a:schemeClr val="tx1"/>
                </a:solidFill>
              </a:rPr>
              <a:t>Opportunity travels through weak ties</a:t>
            </a:r>
            <a:endParaRPr lang="en-US" sz="3000" dirty="0"/>
          </a:p>
        </p:txBody>
      </p:sp>
      <p:sp>
        <p:nvSpPr>
          <p:cNvPr id="3" name="Text 0"/>
          <p:cNvSpPr/>
          <p:nvPr>
            <p:ph idx="101" type="body" hasCustomPrompt="1"/>
          </p:nvPr>
        </p:nvSpPr>
        <p:spPr>
          <a:xfrm>
            <a:off x="457200" y="914400"/>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Close circles share what you already know. Acquaintances bridge to new information.</a:t>
            </a:r>
            <a:endParaRPr lang="en-US" sz="1500" dirty="0"/>
          </a:p>
        </p:txBody>
      </p:sp>
      <p:sp>
        <p:nvSpPr>
          <p:cNvPr id="4" name="strong-0-0"/>
          <p:cNvSpPr/>
          <p:nvPr/>
        </p:nvSpPr>
        <p:spPr>
          <a:xfrm flipV="1">
            <a:off x="868680" y="2011680"/>
            <a:ext cx="640080" cy="365760"/>
          </a:xfrm>
          <a:prstGeom prst="line">
            <a:avLst/>
          </a:prstGeom>
          <a:noFill/>
          <a:ln w="28575">
            <a:solidFill>
              <a:schemeClr val="accent3"/>
            </a:solidFill>
            <a:prstDash val="solid"/>
          </a:ln>
        </p:spPr>
      </p:sp>
      <p:sp>
        <p:nvSpPr>
          <p:cNvPr id="5" name="strong-0-1"/>
          <p:cNvSpPr/>
          <p:nvPr/>
        </p:nvSpPr>
        <p:spPr>
          <a:xfrm flipV="1">
            <a:off x="685800" y="2377440"/>
            <a:ext cx="182880" cy="868680"/>
          </a:xfrm>
          <a:prstGeom prst="line">
            <a:avLst/>
          </a:prstGeom>
          <a:noFill/>
          <a:ln w="28575">
            <a:solidFill>
              <a:schemeClr val="accent3"/>
            </a:solidFill>
            <a:prstDash val="solid"/>
          </a:ln>
        </p:spPr>
      </p:sp>
      <p:sp>
        <p:nvSpPr>
          <p:cNvPr id="6" name="strong-0-2"/>
          <p:cNvSpPr/>
          <p:nvPr/>
        </p:nvSpPr>
        <p:spPr>
          <a:xfrm>
            <a:off x="868680" y="2377440"/>
            <a:ext cx="365760" cy="1554480"/>
          </a:xfrm>
          <a:prstGeom prst="line">
            <a:avLst/>
          </a:prstGeom>
          <a:noFill/>
          <a:ln w="28575">
            <a:solidFill>
              <a:schemeClr val="accent3"/>
            </a:solidFill>
            <a:prstDash val="solid"/>
          </a:ln>
        </p:spPr>
      </p:sp>
      <p:sp>
        <p:nvSpPr>
          <p:cNvPr id="7" name="strong-0-3"/>
          <p:cNvSpPr/>
          <p:nvPr/>
        </p:nvSpPr>
        <p:spPr>
          <a:xfrm>
            <a:off x="868680" y="2377440"/>
            <a:ext cx="1005840" cy="1325880"/>
          </a:xfrm>
          <a:prstGeom prst="line">
            <a:avLst/>
          </a:prstGeom>
          <a:noFill/>
          <a:ln w="28575">
            <a:solidFill>
              <a:schemeClr val="accent3"/>
            </a:solidFill>
            <a:prstDash val="solid"/>
          </a:ln>
        </p:spPr>
      </p:sp>
      <p:sp>
        <p:nvSpPr>
          <p:cNvPr id="8" name="strong-0-4"/>
          <p:cNvSpPr/>
          <p:nvPr/>
        </p:nvSpPr>
        <p:spPr>
          <a:xfrm>
            <a:off x="868680" y="2377440"/>
            <a:ext cx="548640" cy="548640"/>
          </a:xfrm>
          <a:prstGeom prst="line">
            <a:avLst/>
          </a:prstGeom>
          <a:noFill/>
          <a:ln w="28575">
            <a:solidFill>
              <a:schemeClr val="accent3"/>
            </a:solidFill>
            <a:prstDash val="solid"/>
          </a:ln>
        </p:spPr>
      </p:sp>
      <p:sp>
        <p:nvSpPr>
          <p:cNvPr id="9" name="strong-0-5"/>
          <p:cNvSpPr/>
          <p:nvPr/>
        </p:nvSpPr>
        <p:spPr>
          <a:xfrm>
            <a:off x="868680" y="2377440"/>
            <a:ext cx="1371600" cy="640080"/>
          </a:xfrm>
          <a:prstGeom prst="line">
            <a:avLst/>
          </a:prstGeom>
          <a:noFill/>
          <a:ln w="28575">
            <a:solidFill>
              <a:schemeClr val="accent3"/>
            </a:solidFill>
            <a:prstDash val="solid"/>
          </a:ln>
        </p:spPr>
      </p:sp>
      <p:sp>
        <p:nvSpPr>
          <p:cNvPr id="10" name="strong-1-0"/>
          <p:cNvSpPr/>
          <p:nvPr/>
        </p:nvSpPr>
        <p:spPr>
          <a:xfrm flipV="1">
            <a:off x="685800" y="2011680"/>
            <a:ext cx="822960" cy="1234440"/>
          </a:xfrm>
          <a:prstGeom prst="line">
            <a:avLst/>
          </a:prstGeom>
          <a:noFill/>
          <a:ln w="28575">
            <a:solidFill>
              <a:schemeClr val="accent3"/>
            </a:solidFill>
            <a:prstDash val="solid"/>
          </a:ln>
        </p:spPr>
      </p:sp>
      <p:sp>
        <p:nvSpPr>
          <p:cNvPr id="11" name="strong-1-1"/>
          <p:cNvSpPr/>
          <p:nvPr/>
        </p:nvSpPr>
        <p:spPr>
          <a:xfrm flipV="1">
            <a:off x="1234440" y="2011680"/>
            <a:ext cx="274320" cy="1920240"/>
          </a:xfrm>
          <a:prstGeom prst="line">
            <a:avLst/>
          </a:prstGeom>
          <a:noFill/>
          <a:ln w="28575">
            <a:solidFill>
              <a:schemeClr val="accent3"/>
            </a:solidFill>
            <a:prstDash val="solid"/>
          </a:ln>
        </p:spPr>
      </p:sp>
      <p:sp>
        <p:nvSpPr>
          <p:cNvPr id="12" name="strong-1-2"/>
          <p:cNvSpPr/>
          <p:nvPr/>
        </p:nvSpPr>
        <p:spPr>
          <a:xfrm>
            <a:off x="1508760" y="2011680"/>
            <a:ext cx="365760" cy="1691640"/>
          </a:xfrm>
          <a:prstGeom prst="line">
            <a:avLst/>
          </a:prstGeom>
          <a:noFill/>
          <a:ln w="28575">
            <a:solidFill>
              <a:schemeClr val="accent3"/>
            </a:solidFill>
            <a:prstDash val="solid"/>
          </a:ln>
        </p:spPr>
      </p:sp>
      <p:sp>
        <p:nvSpPr>
          <p:cNvPr id="13" name="strong-1-3"/>
          <p:cNvSpPr/>
          <p:nvPr/>
        </p:nvSpPr>
        <p:spPr>
          <a:xfrm flipV="1">
            <a:off x="1417320" y="2011680"/>
            <a:ext cx="91440" cy="914400"/>
          </a:xfrm>
          <a:prstGeom prst="line">
            <a:avLst/>
          </a:prstGeom>
          <a:noFill/>
          <a:ln w="28575">
            <a:solidFill>
              <a:schemeClr val="accent3"/>
            </a:solidFill>
            <a:prstDash val="solid"/>
          </a:ln>
        </p:spPr>
      </p:sp>
      <p:sp>
        <p:nvSpPr>
          <p:cNvPr id="14" name="strong-1-4"/>
          <p:cNvSpPr/>
          <p:nvPr/>
        </p:nvSpPr>
        <p:spPr>
          <a:xfrm>
            <a:off x="1508760" y="2011680"/>
            <a:ext cx="731520" cy="1005840"/>
          </a:xfrm>
          <a:prstGeom prst="line">
            <a:avLst/>
          </a:prstGeom>
          <a:noFill/>
          <a:ln w="28575">
            <a:solidFill>
              <a:schemeClr val="accent3"/>
            </a:solidFill>
            <a:prstDash val="solid"/>
          </a:ln>
        </p:spPr>
      </p:sp>
      <p:sp>
        <p:nvSpPr>
          <p:cNvPr id="15" name="strong-2-0"/>
          <p:cNvSpPr/>
          <p:nvPr/>
        </p:nvSpPr>
        <p:spPr>
          <a:xfrm>
            <a:off x="685800" y="3246120"/>
            <a:ext cx="548640" cy="685800"/>
          </a:xfrm>
          <a:prstGeom prst="line">
            <a:avLst/>
          </a:prstGeom>
          <a:noFill/>
          <a:ln w="28575">
            <a:solidFill>
              <a:schemeClr val="accent3"/>
            </a:solidFill>
            <a:prstDash val="solid"/>
          </a:ln>
        </p:spPr>
      </p:sp>
      <p:sp>
        <p:nvSpPr>
          <p:cNvPr id="16" name="strong-2-1"/>
          <p:cNvSpPr/>
          <p:nvPr/>
        </p:nvSpPr>
        <p:spPr>
          <a:xfrm>
            <a:off x="685800" y="3246120"/>
            <a:ext cx="1188720" cy="457200"/>
          </a:xfrm>
          <a:prstGeom prst="line">
            <a:avLst/>
          </a:prstGeom>
          <a:noFill/>
          <a:ln w="28575">
            <a:solidFill>
              <a:schemeClr val="accent3"/>
            </a:solidFill>
            <a:prstDash val="solid"/>
          </a:ln>
        </p:spPr>
      </p:sp>
      <p:sp>
        <p:nvSpPr>
          <p:cNvPr id="17" name="strong-2-2"/>
          <p:cNvSpPr/>
          <p:nvPr/>
        </p:nvSpPr>
        <p:spPr>
          <a:xfrm flipV="1">
            <a:off x="685800" y="2926080"/>
            <a:ext cx="731520" cy="320040"/>
          </a:xfrm>
          <a:prstGeom prst="line">
            <a:avLst/>
          </a:prstGeom>
          <a:noFill/>
          <a:ln w="28575">
            <a:solidFill>
              <a:schemeClr val="accent3"/>
            </a:solidFill>
            <a:prstDash val="solid"/>
          </a:ln>
        </p:spPr>
      </p:sp>
      <p:sp>
        <p:nvSpPr>
          <p:cNvPr id="18" name="strong-2-3"/>
          <p:cNvSpPr/>
          <p:nvPr/>
        </p:nvSpPr>
        <p:spPr>
          <a:xfrm flipV="1">
            <a:off x="685800" y="3017520"/>
            <a:ext cx="1554480" cy="228600"/>
          </a:xfrm>
          <a:prstGeom prst="line">
            <a:avLst/>
          </a:prstGeom>
          <a:noFill/>
          <a:ln w="28575">
            <a:solidFill>
              <a:schemeClr val="accent3"/>
            </a:solidFill>
            <a:prstDash val="solid"/>
          </a:ln>
        </p:spPr>
      </p:sp>
      <p:sp>
        <p:nvSpPr>
          <p:cNvPr id="19" name="strong-3-0"/>
          <p:cNvSpPr/>
          <p:nvPr/>
        </p:nvSpPr>
        <p:spPr>
          <a:xfrm flipV="1">
            <a:off x="1234440" y="3703320"/>
            <a:ext cx="640080" cy="228600"/>
          </a:xfrm>
          <a:prstGeom prst="line">
            <a:avLst/>
          </a:prstGeom>
          <a:noFill/>
          <a:ln w="28575">
            <a:solidFill>
              <a:schemeClr val="accent3"/>
            </a:solidFill>
            <a:prstDash val="solid"/>
          </a:ln>
        </p:spPr>
      </p:sp>
      <p:sp>
        <p:nvSpPr>
          <p:cNvPr id="20" name="strong-3-1"/>
          <p:cNvSpPr/>
          <p:nvPr/>
        </p:nvSpPr>
        <p:spPr>
          <a:xfrm flipV="1">
            <a:off x="1234440" y="2926080"/>
            <a:ext cx="182880" cy="1005840"/>
          </a:xfrm>
          <a:prstGeom prst="line">
            <a:avLst/>
          </a:prstGeom>
          <a:noFill/>
          <a:ln w="28575">
            <a:solidFill>
              <a:schemeClr val="accent3"/>
            </a:solidFill>
            <a:prstDash val="solid"/>
          </a:ln>
        </p:spPr>
      </p:sp>
      <p:sp>
        <p:nvSpPr>
          <p:cNvPr id="21" name="strong-3-2"/>
          <p:cNvSpPr/>
          <p:nvPr/>
        </p:nvSpPr>
        <p:spPr>
          <a:xfrm flipV="1">
            <a:off x="1234440" y="3017520"/>
            <a:ext cx="1005840" cy="914400"/>
          </a:xfrm>
          <a:prstGeom prst="line">
            <a:avLst/>
          </a:prstGeom>
          <a:noFill/>
          <a:ln w="28575">
            <a:solidFill>
              <a:schemeClr val="accent3"/>
            </a:solidFill>
            <a:prstDash val="solid"/>
          </a:ln>
        </p:spPr>
      </p:sp>
      <p:sp>
        <p:nvSpPr>
          <p:cNvPr id="22" name="strong-4-0"/>
          <p:cNvSpPr/>
          <p:nvPr/>
        </p:nvSpPr>
        <p:spPr>
          <a:xfrm>
            <a:off x="1417320" y="2926080"/>
            <a:ext cx="457200" cy="777240"/>
          </a:xfrm>
          <a:prstGeom prst="line">
            <a:avLst/>
          </a:prstGeom>
          <a:noFill/>
          <a:ln w="28575">
            <a:solidFill>
              <a:schemeClr val="accent3"/>
            </a:solidFill>
            <a:prstDash val="solid"/>
          </a:ln>
        </p:spPr>
      </p:sp>
      <p:sp>
        <p:nvSpPr>
          <p:cNvPr id="23" name="strong-4-1"/>
          <p:cNvSpPr/>
          <p:nvPr/>
        </p:nvSpPr>
        <p:spPr>
          <a:xfrm flipV="1">
            <a:off x="1874520" y="3017520"/>
            <a:ext cx="365760" cy="685800"/>
          </a:xfrm>
          <a:prstGeom prst="line">
            <a:avLst/>
          </a:prstGeom>
          <a:noFill/>
          <a:ln w="28575">
            <a:solidFill>
              <a:schemeClr val="accent3"/>
            </a:solidFill>
            <a:prstDash val="solid"/>
          </a:ln>
        </p:spPr>
      </p:sp>
      <p:sp>
        <p:nvSpPr>
          <p:cNvPr id="24" name="strong-5-0"/>
          <p:cNvSpPr/>
          <p:nvPr/>
        </p:nvSpPr>
        <p:spPr>
          <a:xfrm>
            <a:off x="1417320" y="2926080"/>
            <a:ext cx="822960" cy="91440"/>
          </a:xfrm>
          <a:prstGeom prst="line">
            <a:avLst/>
          </a:prstGeom>
          <a:noFill/>
          <a:ln w="28575">
            <a:solidFill>
              <a:schemeClr val="accent3"/>
            </a:solidFill>
            <a:prstDash val="solid"/>
          </a:ln>
        </p:spPr>
      </p:sp>
      <p:sp>
        <p:nvSpPr>
          <p:cNvPr id="25" name="other0-0-0"/>
          <p:cNvSpPr/>
          <p:nvPr/>
        </p:nvSpPr>
        <p:spPr>
          <a:xfrm flipV="1">
            <a:off x="4206240" y="1828800"/>
            <a:ext cx="685800" cy="274320"/>
          </a:xfrm>
          <a:prstGeom prst="line">
            <a:avLst/>
          </a:prstGeom>
          <a:noFill/>
          <a:ln w="22225">
            <a:solidFill>
              <a:schemeClr val="accent2">
                <a:alpha val="65000"/>
              </a:schemeClr>
            </a:solidFill>
            <a:prstDash val="solid"/>
          </a:ln>
        </p:spPr>
      </p:sp>
      <p:sp>
        <p:nvSpPr>
          <p:cNvPr id="26" name="other0-0-1"/>
          <p:cNvSpPr/>
          <p:nvPr/>
        </p:nvSpPr>
        <p:spPr>
          <a:xfrm>
            <a:off x="4206240" y="2103120"/>
            <a:ext cx="1051560" cy="365760"/>
          </a:xfrm>
          <a:prstGeom prst="line">
            <a:avLst/>
          </a:prstGeom>
          <a:noFill/>
          <a:ln w="22225">
            <a:solidFill>
              <a:schemeClr val="accent2">
                <a:alpha val="65000"/>
              </a:schemeClr>
            </a:solidFill>
            <a:prstDash val="solid"/>
          </a:ln>
        </p:spPr>
      </p:sp>
      <p:sp>
        <p:nvSpPr>
          <p:cNvPr id="27" name="other0-0-2"/>
          <p:cNvSpPr/>
          <p:nvPr/>
        </p:nvSpPr>
        <p:spPr>
          <a:xfrm>
            <a:off x="4206240" y="2103120"/>
            <a:ext cx="411480" cy="640080"/>
          </a:xfrm>
          <a:prstGeom prst="line">
            <a:avLst/>
          </a:prstGeom>
          <a:noFill/>
          <a:ln w="22225">
            <a:solidFill>
              <a:schemeClr val="accent2">
                <a:alpha val="65000"/>
              </a:schemeClr>
            </a:solidFill>
            <a:prstDash val="solid"/>
          </a:ln>
        </p:spPr>
      </p:sp>
      <p:sp>
        <p:nvSpPr>
          <p:cNvPr id="28" name="other0-1-0"/>
          <p:cNvSpPr/>
          <p:nvPr/>
        </p:nvSpPr>
        <p:spPr>
          <a:xfrm>
            <a:off x="4892040" y="1828800"/>
            <a:ext cx="365760" cy="640080"/>
          </a:xfrm>
          <a:prstGeom prst="line">
            <a:avLst/>
          </a:prstGeom>
          <a:noFill/>
          <a:ln w="22225">
            <a:solidFill>
              <a:schemeClr val="accent2">
                <a:alpha val="65000"/>
              </a:schemeClr>
            </a:solidFill>
            <a:prstDash val="solid"/>
          </a:ln>
        </p:spPr>
      </p:sp>
      <p:sp>
        <p:nvSpPr>
          <p:cNvPr id="29" name="other0-1-1"/>
          <p:cNvSpPr/>
          <p:nvPr/>
        </p:nvSpPr>
        <p:spPr>
          <a:xfrm flipV="1">
            <a:off x="4617720" y="1828800"/>
            <a:ext cx="274320" cy="914400"/>
          </a:xfrm>
          <a:prstGeom prst="line">
            <a:avLst/>
          </a:prstGeom>
          <a:noFill/>
          <a:ln w="22225">
            <a:solidFill>
              <a:schemeClr val="accent2">
                <a:alpha val="65000"/>
              </a:schemeClr>
            </a:solidFill>
            <a:prstDash val="solid"/>
          </a:ln>
        </p:spPr>
      </p:sp>
      <p:sp>
        <p:nvSpPr>
          <p:cNvPr id="30" name="other0-2-0"/>
          <p:cNvSpPr/>
          <p:nvPr/>
        </p:nvSpPr>
        <p:spPr>
          <a:xfrm flipV="1">
            <a:off x="4617720" y="2468880"/>
            <a:ext cx="640080" cy="274320"/>
          </a:xfrm>
          <a:prstGeom prst="line">
            <a:avLst/>
          </a:prstGeom>
          <a:noFill/>
          <a:ln w="22225">
            <a:solidFill>
              <a:schemeClr val="accent2">
                <a:alpha val="65000"/>
              </a:schemeClr>
            </a:solidFill>
            <a:prstDash val="solid"/>
          </a:ln>
        </p:spPr>
      </p:sp>
      <p:sp>
        <p:nvSpPr>
          <p:cNvPr id="31" name="other1-0-0"/>
          <p:cNvSpPr/>
          <p:nvPr/>
        </p:nvSpPr>
        <p:spPr>
          <a:xfrm flipV="1">
            <a:off x="4206240" y="3429000"/>
            <a:ext cx="548640" cy="411480"/>
          </a:xfrm>
          <a:prstGeom prst="line">
            <a:avLst/>
          </a:prstGeom>
          <a:noFill/>
          <a:ln w="22225">
            <a:solidFill>
              <a:schemeClr val="accent2">
                <a:alpha val="65000"/>
              </a:schemeClr>
            </a:solidFill>
            <a:prstDash val="solid"/>
          </a:ln>
        </p:spPr>
      </p:sp>
      <p:sp>
        <p:nvSpPr>
          <p:cNvPr id="32" name="other1-0-1"/>
          <p:cNvSpPr/>
          <p:nvPr/>
        </p:nvSpPr>
        <p:spPr>
          <a:xfrm>
            <a:off x="4206240" y="3840480"/>
            <a:ext cx="1097280" cy="0"/>
          </a:xfrm>
          <a:prstGeom prst="line">
            <a:avLst/>
          </a:prstGeom>
          <a:noFill/>
          <a:ln w="22225">
            <a:solidFill>
              <a:schemeClr val="accent2">
                <a:alpha val="65000"/>
              </a:schemeClr>
            </a:solidFill>
            <a:prstDash val="solid"/>
          </a:ln>
        </p:spPr>
      </p:sp>
      <p:sp>
        <p:nvSpPr>
          <p:cNvPr id="33" name="other1-0-2"/>
          <p:cNvSpPr/>
          <p:nvPr/>
        </p:nvSpPr>
        <p:spPr>
          <a:xfrm>
            <a:off x="4206240" y="3840480"/>
            <a:ext cx="548640" cy="457200"/>
          </a:xfrm>
          <a:prstGeom prst="line">
            <a:avLst/>
          </a:prstGeom>
          <a:noFill/>
          <a:ln w="22225">
            <a:solidFill>
              <a:schemeClr val="accent2">
                <a:alpha val="65000"/>
              </a:schemeClr>
            </a:solidFill>
            <a:prstDash val="solid"/>
          </a:ln>
        </p:spPr>
      </p:sp>
      <p:sp>
        <p:nvSpPr>
          <p:cNvPr id="34" name="other1-1-0"/>
          <p:cNvSpPr/>
          <p:nvPr/>
        </p:nvSpPr>
        <p:spPr>
          <a:xfrm>
            <a:off x="4754880" y="3429000"/>
            <a:ext cx="548640" cy="411480"/>
          </a:xfrm>
          <a:prstGeom prst="line">
            <a:avLst/>
          </a:prstGeom>
          <a:noFill/>
          <a:ln w="22225">
            <a:solidFill>
              <a:schemeClr val="accent2">
                <a:alpha val="65000"/>
              </a:schemeClr>
            </a:solidFill>
            <a:prstDash val="solid"/>
          </a:ln>
        </p:spPr>
      </p:sp>
      <p:sp>
        <p:nvSpPr>
          <p:cNvPr id="35" name="other1-1-1"/>
          <p:cNvSpPr/>
          <p:nvPr/>
        </p:nvSpPr>
        <p:spPr>
          <a:xfrm>
            <a:off x="4754880" y="3429000"/>
            <a:ext cx="0" cy="868680"/>
          </a:xfrm>
          <a:prstGeom prst="line">
            <a:avLst/>
          </a:prstGeom>
          <a:noFill/>
          <a:ln w="22225">
            <a:solidFill>
              <a:schemeClr val="accent2">
                <a:alpha val="65000"/>
              </a:schemeClr>
            </a:solidFill>
            <a:prstDash val="solid"/>
          </a:ln>
        </p:spPr>
      </p:sp>
      <p:sp>
        <p:nvSpPr>
          <p:cNvPr id="36" name="other1-2-0"/>
          <p:cNvSpPr/>
          <p:nvPr/>
        </p:nvSpPr>
        <p:spPr>
          <a:xfrm flipV="1">
            <a:off x="4754880" y="3840480"/>
            <a:ext cx="548640" cy="457200"/>
          </a:xfrm>
          <a:prstGeom prst="line">
            <a:avLst/>
          </a:prstGeom>
          <a:noFill/>
          <a:ln w="22225">
            <a:solidFill>
              <a:schemeClr val="accent2">
                <a:alpha val="65000"/>
              </a:schemeClr>
            </a:solidFill>
            <a:prstDash val="solid"/>
          </a:ln>
        </p:spPr>
      </p:sp>
      <p:sp>
        <p:nvSpPr>
          <p:cNvPr id="37" name="weak-tie-1"/>
          <p:cNvSpPr/>
          <p:nvPr/>
        </p:nvSpPr>
        <p:spPr>
          <a:xfrm flipV="1">
            <a:off x="2240280" y="2103120"/>
            <a:ext cx="1965960" cy="914400"/>
          </a:xfrm>
          <a:prstGeom prst="line">
            <a:avLst/>
          </a:prstGeom>
          <a:noFill/>
          <a:ln w="38100">
            <a:solidFill>
              <a:schemeClr val="accent1"/>
            </a:solidFill>
            <a:prstDash val="dash"/>
          </a:ln>
        </p:spPr>
      </p:sp>
      <p:sp>
        <p:nvSpPr>
          <p:cNvPr id="38" name="weak-tie-2"/>
          <p:cNvSpPr/>
          <p:nvPr/>
        </p:nvSpPr>
        <p:spPr>
          <a:xfrm>
            <a:off x="2240280" y="3017520"/>
            <a:ext cx="1965960" cy="822960"/>
          </a:xfrm>
          <a:prstGeom prst="line">
            <a:avLst/>
          </a:prstGeom>
          <a:noFill/>
          <a:ln w="38100">
            <a:solidFill>
              <a:schemeClr val="accent1"/>
            </a:solidFill>
            <a:prstDash val="dash"/>
          </a:ln>
        </p:spPr>
      </p:sp>
      <p:sp>
        <p:nvSpPr>
          <p:cNvPr id="39" name="my-node-0"/>
          <p:cNvSpPr/>
          <p:nvPr/>
        </p:nvSpPr>
        <p:spPr>
          <a:xfrm>
            <a:off x="731520" y="2240280"/>
            <a:ext cx="274320" cy="274320"/>
          </a:xfrm>
          <a:prstGeom prst="ellipse">
            <a:avLst/>
          </a:prstGeom>
          <a:solidFill>
            <a:schemeClr val="tx2"/>
          </a:solidFill>
          <a:ln w="19050">
            <a:solidFill>
              <a:schemeClr val="bg1"/>
            </a:solidFill>
            <a:prstDash val="solid"/>
          </a:ln>
        </p:spPr>
      </p:sp>
      <p:sp>
        <p:nvSpPr>
          <p:cNvPr id="40" name="my-node-1"/>
          <p:cNvSpPr/>
          <p:nvPr/>
        </p:nvSpPr>
        <p:spPr>
          <a:xfrm>
            <a:off x="1371600" y="1874520"/>
            <a:ext cx="274320" cy="274320"/>
          </a:xfrm>
          <a:prstGeom prst="ellipse">
            <a:avLst/>
          </a:prstGeom>
          <a:solidFill>
            <a:schemeClr val="tx2"/>
          </a:solidFill>
          <a:ln w="19050">
            <a:solidFill>
              <a:schemeClr val="bg1"/>
            </a:solidFill>
            <a:prstDash val="solid"/>
          </a:ln>
        </p:spPr>
      </p:sp>
      <p:sp>
        <p:nvSpPr>
          <p:cNvPr id="41" name="my-node-2"/>
          <p:cNvSpPr/>
          <p:nvPr/>
        </p:nvSpPr>
        <p:spPr>
          <a:xfrm>
            <a:off x="548640" y="3108960"/>
            <a:ext cx="274320" cy="274320"/>
          </a:xfrm>
          <a:prstGeom prst="ellipse">
            <a:avLst/>
          </a:prstGeom>
          <a:solidFill>
            <a:schemeClr val="tx2"/>
          </a:solidFill>
          <a:ln w="19050">
            <a:solidFill>
              <a:schemeClr val="bg1"/>
            </a:solidFill>
            <a:prstDash val="solid"/>
          </a:ln>
        </p:spPr>
      </p:sp>
      <p:sp>
        <p:nvSpPr>
          <p:cNvPr id="42" name="my-node-3"/>
          <p:cNvSpPr/>
          <p:nvPr/>
        </p:nvSpPr>
        <p:spPr>
          <a:xfrm>
            <a:off x="1097280" y="3794760"/>
            <a:ext cx="274320" cy="274320"/>
          </a:xfrm>
          <a:prstGeom prst="ellipse">
            <a:avLst/>
          </a:prstGeom>
          <a:solidFill>
            <a:schemeClr val="tx2"/>
          </a:solidFill>
          <a:ln w="19050">
            <a:solidFill>
              <a:schemeClr val="bg1"/>
            </a:solidFill>
            <a:prstDash val="solid"/>
          </a:ln>
        </p:spPr>
      </p:sp>
      <p:sp>
        <p:nvSpPr>
          <p:cNvPr id="43" name="my-node-4"/>
          <p:cNvSpPr/>
          <p:nvPr/>
        </p:nvSpPr>
        <p:spPr>
          <a:xfrm>
            <a:off x="1737360" y="3566160"/>
            <a:ext cx="274320" cy="274320"/>
          </a:xfrm>
          <a:prstGeom prst="ellipse">
            <a:avLst/>
          </a:prstGeom>
          <a:solidFill>
            <a:schemeClr val="tx2"/>
          </a:solidFill>
          <a:ln w="19050">
            <a:solidFill>
              <a:schemeClr val="bg1"/>
            </a:solidFill>
            <a:prstDash val="solid"/>
          </a:ln>
        </p:spPr>
      </p:sp>
      <p:sp>
        <p:nvSpPr>
          <p:cNvPr id="44" name="my-node-5"/>
          <p:cNvSpPr/>
          <p:nvPr/>
        </p:nvSpPr>
        <p:spPr>
          <a:xfrm>
            <a:off x="1280160" y="2788920"/>
            <a:ext cx="274320" cy="274320"/>
          </a:xfrm>
          <a:prstGeom prst="ellipse">
            <a:avLst/>
          </a:prstGeom>
          <a:solidFill>
            <a:schemeClr val="tx2"/>
          </a:solidFill>
          <a:ln w="19050">
            <a:solidFill>
              <a:schemeClr val="bg1"/>
            </a:solidFill>
            <a:prstDash val="solid"/>
          </a:ln>
        </p:spPr>
      </p:sp>
      <p:sp>
        <p:nvSpPr>
          <p:cNvPr id="45" name="other-node-0"/>
          <p:cNvSpPr/>
          <p:nvPr/>
        </p:nvSpPr>
        <p:spPr>
          <a:xfrm>
            <a:off x="4069080" y="1965960"/>
            <a:ext cx="274320" cy="274320"/>
          </a:xfrm>
          <a:prstGeom prst="ellipse">
            <a:avLst/>
          </a:prstGeom>
          <a:solidFill>
            <a:schemeClr val="accent2"/>
          </a:solidFill>
          <a:ln w="19050">
            <a:solidFill>
              <a:schemeClr val="bg1"/>
            </a:solidFill>
            <a:prstDash val="solid"/>
          </a:ln>
        </p:spPr>
      </p:sp>
      <p:sp>
        <p:nvSpPr>
          <p:cNvPr id="46" name="other-node-1"/>
          <p:cNvSpPr/>
          <p:nvPr/>
        </p:nvSpPr>
        <p:spPr>
          <a:xfrm>
            <a:off x="4754880" y="1691640"/>
            <a:ext cx="274320" cy="274320"/>
          </a:xfrm>
          <a:prstGeom prst="ellipse">
            <a:avLst/>
          </a:prstGeom>
          <a:solidFill>
            <a:schemeClr val="accent2"/>
          </a:solidFill>
          <a:ln w="19050">
            <a:solidFill>
              <a:schemeClr val="bg1"/>
            </a:solidFill>
            <a:prstDash val="solid"/>
          </a:ln>
        </p:spPr>
      </p:sp>
      <p:sp>
        <p:nvSpPr>
          <p:cNvPr id="47" name="other-node-2"/>
          <p:cNvSpPr/>
          <p:nvPr/>
        </p:nvSpPr>
        <p:spPr>
          <a:xfrm>
            <a:off x="5120640" y="2331720"/>
            <a:ext cx="274320" cy="274320"/>
          </a:xfrm>
          <a:prstGeom prst="ellipse">
            <a:avLst/>
          </a:prstGeom>
          <a:solidFill>
            <a:schemeClr val="accent2"/>
          </a:solidFill>
          <a:ln w="19050">
            <a:solidFill>
              <a:schemeClr val="bg1"/>
            </a:solidFill>
            <a:prstDash val="solid"/>
          </a:ln>
        </p:spPr>
      </p:sp>
      <p:sp>
        <p:nvSpPr>
          <p:cNvPr id="48" name="other-node-3"/>
          <p:cNvSpPr/>
          <p:nvPr/>
        </p:nvSpPr>
        <p:spPr>
          <a:xfrm>
            <a:off x="4480560" y="2606040"/>
            <a:ext cx="274320" cy="274320"/>
          </a:xfrm>
          <a:prstGeom prst="ellipse">
            <a:avLst/>
          </a:prstGeom>
          <a:solidFill>
            <a:schemeClr val="accent2"/>
          </a:solidFill>
          <a:ln w="19050">
            <a:solidFill>
              <a:schemeClr val="bg1"/>
            </a:solidFill>
            <a:prstDash val="solid"/>
          </a:ln>
        </p:spPr>
      </p:sp>
      <p:sp>
        <p:nvSpPr>
          <p:cNvPr id="49" name="other-node-4"/>
          <p:cNvSpPr/>
          <p:nvPr/>
        </p:nvSpPr>
        <p:spPr>
          <a:xfrm>
            <a:off x="4069080" y="3703320"/>
            <a:ext cx="274320" cy="274320"/>
          </a:xfrm>
          <a:prstGeom prst="ellipse">
            <a:avLst/>
          </a:prstGeom>
          <a:solidFill>
            <a:schemeClr val="accent2"/>
          </a:solidFill>
          <a:ln w="19050">
            <a:solidFill>
              <a:schemeClr val="bg1"/>
            </a:solidFill>
            <a:prstDash val="solid"/>
          </a:ln>
        </p:spPr>
      </p:sp>
      <p:sp>
        <p:nvSpPr>
          <p:cNvPr id="50" name="other-node-5"/>
          <p:cNvSpPr/>
          <p:nvPr/>
        </p:nvSpPr>
        <p:spPr>
          <a:xfrm>
            <a:off x="4617720" y="3291840"/>
            <a:ext cx="274320" cy="274320"/>
          </a:xfrm>
          <a:prstGeom prst="ellipse">
            <a:avLst/>
          </a:prstGeom>
          <a:solidFill>
            <a:schemeClr val="accent2"/>
          </a:solidFill>
          <a:ln w="19050">
            <a:solidFill>
              <a:schemeClr val="bg1"/>
            </a:solidFill>
            <a:prstDash val="solid"/>
          </a:ln>
        </p:spPr>
      </p:sp>
      <p:sp>
        <p:nvSpPr>
          <p:cNvPr id="51" name="other-node-6"/>
          <p:cNvSpPr/>
          <p:nvPr/>
        </p:nvSpPr>
        <p:spPr>
          <a:xfrm>
            <a:off x="5166360" y="3703320"/>
            <a:ext cx="274320" cy="274320"/>
          </a:xfrm>
          <a:prstGeom prst="ellipse">
            <a:avLst/>
          </a:prstGeom>
          <a:solidFill>
            <a:schemeClr val="accent2"/>
          </a:solidFill>
          <a:ln w="19050">
            <a:solidFill>
              <a:schemeClr val="bg1"/>
            </a:solidFill>
            <a:prstDash val="solid"/>
          </a:ln>
        </p:spPr>
      </p:sp>
      <p:sp>
        <p:nvSpPr>
          <p:cNvPr id="52" name="other-node-7"/>
          <p:cNvSpPr/>
          <p:nvPr/>
        </p:nvSpPr>
        <p:spPr>
          <a:xfrm>
            <a:off x="4617720" y="4160520"/>
            <a:ext cx="274320" cy="274320"/>
          </a:xfrm>
          <a:prstGeom prst="ellipse">
            <a:avLst/>
          </a:prstGeom>
          <a:solidFill>
            <a:schemeClr val="accent2"/>
          </a:solidFill>
          <a:ln w="19050">
            <a:solidFill>
              <a:schemeClr val="bg1"/>
            </a:solidFill>
            <a:prstDash val="solid"/>
          </a:ln>
        </p:spPr>
      </p:sp>
      <p:sp>
        <p:nvSpPr>
          <p:cNvPr id="53" name="bridge-contact-1"/>
          <p:cNvSpPr/>
          <p:nvPr/>
        </p:nvSpPr>
        <p:spPr>
          <a:xfrm>
            <a:off x="4050792" y="1947672"/>
            <a:ext cx="310896" cy="310896"/>
          </a:xfrm>
          <a:prstGeom prst="ellipse">
            <a:avLst/>
          </a:prstGeom>
          <a:solidFill>
            <a:schemeClr val="accent1"/>
          </a:solidFill>
          <a:ln w="19050">
            <a:solidFill>
              <a:schemeClr val="bg1"/>
            </a:solidFill>
            <a:prstDash val="solid"/>
          </a:ln>
        </p:spPr>
      </p:sp>
      <p:sp>
        <p:nvSpPr>
          <p:cNvPr id="54" name="bridge-contact-2"/>
          <p:cNvSpPr/>
          <p:nvPr/>
        </p:nvSpPr>
        <p:spPr>
          <a:xfrm>
            <a:off x="4050792" y="3685032"/>
            <a:ext cx="310896" cy="310896"/>
          </a:xfrm>
          <a:prstGeom prst="ellipse">
            <a:avLst/>
          </a:prstGeom>
          <a:solidFill>
            <a:schemeClr val="accent1"/>
          </a:solidFill>
          <a:ln w="19050">
            <a:solidFill>
              <a:schemeClr val="bg1"/>
            </a:solidFill>
            <a:prstDash val="solid"/>
          </a:ln>
        </p:spPr>
      </p:sp>
      <p:sp>
        <p:nvSpPr>
          <p:cNvPr id="55" name="you-node"/>
          <p:cNvSpPr/>
          <p:nvPr/>
        </p:nvSpPr>
        <p:spPr>
          <a:xfrm>
            <a:off x="1975104" y="2752344"/>
            <a:ext cx="530352" cy="530352"/>
          </a:xfrm>
          <a:prstGeom prst="ellipse">
            <a:avLst/>
          </a:prstGeom>
          <a:solidFill>
            <a:schemeClr val="tx1"/>
          </a:solidFill>
          <a:ln w="19050">
            <a:solidFill>
              <a:schemeClr val="bg1"/>
            </a:solidFill>
            <a:prstDash val="solid"/>
          </a:ln>
        </p:spPr>
      </p:sp>
      <p:sp>
        <p:nvSpPr>
          <p:cNvPr id="56" name="you-label"/>
          <p:cNvSpPr txBox="1"/>
          <p:nvPr/>
        </p:nvSpPr>
        <p:spPr>
          <a:xfrm>
            <a:off x="1975104" y="2752344"/>
            <a:ext cx="530352" cy="530352"/>
          </a:xfrm>
          <a:prstGeom prst="rect">
            <a:avLst/>
          </a:prstGeom>
          <a:noFill/>
          <a:ln/>
        </p:spPr>
        <p:txBody>
          <a:bodyPr wrap="square" lIns="0" tIns="0" rIns="0" bIns="0" rtlCol="0" anchor="ctr"/>
          <a:lstStyle/>
          <a:p>
            <a:pPr algn="ctr" indent="0" marL="0">
              <a:buNone/>
            </a:pPr>
            <a:r>
              <a:rPr lang="en-US" sz="1200" b="1" dirty="0">
                <a:solidFill>
                  <a:schemeClr val="bg1"/>
                </a:solidFill>
              </a:rPr>
              <a:t>You</a:t>
            </a:r>
            <a:endParaRPr lang="en-US" sz="1200" dirty="0"/>
          </a:p>
        </p:txBody>
      </p:sp>
      <p:sp>
        <p:nvSpPr>
          <p:cNvPr id="57" name="label-strong"/>
          <p:cNvSpPr txBox="1"/>
          <p:nvPr/>
        </p:nvSpPr>
        <p:spPr>
          <a:xfrm>
            <a:off x="457200" y="4297680"/>
            <a:ext cx="2103120" cy="457200"/>
          </a:xfrm>
          <a:prstGeom prst="rect">
            <a:avLst/>
          </a:prstGeom>
          <a:noFill/>
          <a:ln/>
        </p:spPr>
        <p:txBody>
          <a:bodyPr wrap="square" lIns="0" tIns="0" rIns="0" bIns="0" rtlCol="0" anchor="t"/>
          <a:lstStyle/>
          <a:p>
            <a:pPr indent="0" marL="0">
              <a:buNone/>
            </a:pPr>
            <a:r>
              <a:rPr lang="en-US" sz="1200" b="1" dirty="0">
                <a:solidFill>
                  <a:schemeClr val="tx1"/>
                </a:solidFill>
              </a:rPr>
              <a:t>Strong ties</a:t>
            </a:r>
            <a:endParaRPr lang="en-US" sz="1200" dirty="0"/>
          </a:p>
          <a:p>
            <a:pPr indent="0" marL="0">
              <a:buNone/>
            </a:pPr>
            <a:r>
              <a:rPr lang="en-US" sz="1200" dirty="0">
                <a:solidFill>
                  <a:schemeClr val="tx2"/>
                </a:solidFill>
              </a:rPr>
              <a:t>Same circle, same news</a:t>
            </a:r>
            <a:endParaRPr lang="en-US" sz="1200" dirty="0"/>
          </a:p>
        </p:txBody>
      </p:sp>
      <p:sp>
        <p:nvSpPr>
          <p:cNvPr id="58" name="label-weak"/>
          <p:cNvSpPr txBox="1"/>
          <p:nvPr/>
        </p:nvSpPr>
        <p:spPr>
          <a:xfrm>
            <a:off x="2697480" y="2788920"/>
            <a:ext cx="1417320" cy="457200"/>
          </a:xfrm>
          <a:prstGeom prst="rect">
            <a:avLst/>
          </a:prstGeom>
          <a:noFill/>
          <a:ln/>
        </p:spPr>
        <p:txBody>
          <a:bodyPr wrap="square" lIns="0" tIns="0" rIns="0" bIns="0" rtlCol="0" anchor="ctr"/>
          <a:lstStyle/>
          <a:p>
            <a:pPr indent="0" marL="0">
              <a:buNone/>
            </a:pPr>
            <a:r>
              <a:rPr lang="en-US" sz="1200" b="1" dirty="0">
                <a:solidFill>
                  <a:schemeClr val="accent1"/>
                </a:solidFill>
              </a:rPr>
              <a:t>Weak ties</a:t>
            </a:r>
            <a:endParaRPr lang="en-US" sz="1200" dirty="0"/>
          </a:p>
          <a:p>
            <a:pPr indent="0" marL="0">
              <a:buNone/>
            </a:pPr>
            <a:r>
              <a:rPr lang="en-US" sz="1200" dirty="0">
                <a:solidFill>
                  <a:schemeClr val="tx2"/>
                </a:solidFill>
              </a:rPr>
              <a:t>Bridges to other circles</a:t>
            </a:r>
            <a:endParaRPr lang="en-US" sz="1200" dirty="0"/>
          </a:p>
        </p:txBody>
      </p:sp>
      <p:sp>
        <p:nvSpPr>
          <p:cNvPr id="59" name="label-new"/>
          <p:cNvSpPr txBox="1"/>
          <p:nvPr/>
        </p:nvSpPr>
        <p:spPr>
          <a:xfrm>
            <a:off x="3977640" y="1325880"/>
            <a:ext cx="1828800" cy="365760"/>
          </a:xfrm>
          <a:prstGeom prst="rect">
            <a:avLst/>
          </a:prstGeom>
          <a:noFill/>
          <a:ln/>
        </p:spPr>
        <p:txBody>
          <a:bodyPr wrap="square" lIns="0" tIns="0" rIns="0" bIns="0" rtlCol="0" anchor="t"/>
          <a:lstStyle/>
          <a:p>
            <a:pPr indent="0" marL="0">
              <a:buNone/>
            </a:pPr>
            <a:r>
              <a:rPr lang="en-US" sz="1200" b="1" dirty="0">
                <a:solidFill>
                  <a:schemeClr val="accent2"/>
                </a:solidFill>
              </a:rPr>
              <a:t>New circles</a:t>
            </a:r>
            <a:endParaRPr lang="en-US" sz="1200" dirty="0"/>
          </a:p>
          <a:p>
            <a:pPr indent="0" marL="0">
              <a:buNone/>
            </a:pPr>
            <a:r>
              <a:rPr lang="en-US" sz="1200" dirty="0">
                <a:solidFill>
                  <a:schemeClr val="tx2"/>
                </a:solidFill>
              </a:rPr>
              <a:t>New jobs, ideas, deals</a:t>
            </a:r>
            <a:endParaRPr lang="en-US" sz="1200" dirty="0"/>
          </a:p>
        </p:txBody>
      </p:sp>
      <p:sp>
        <p:nvSpPr>
          <p:cNvPr id="60" name="evidence-granovetter-card"/>
          <p:cNvSpPr/>
          <p:nvPr/>
        </p:nvSpPr>
        <p:spPr>
          <a:xfrm>
            <a:off x="5989320" y="1417320"/>
            <a:ext cx="2697480" cy="1572768"/>
          </a:xfrm>
          <a:prstGeom prst="roundRect">
            <a:avLst>
              <a:gd name="adj" fmla="val 4651"/>
            </a:avLst>
          </a:prstGeom>
          <a:solidFill>
            <a:schemeClr val="bg2"/>
          </a:solidFill>
          <a:ln/>
        </p:spPr>
      </p:sp>
      <p:sp>
        <p:nvSpPr>
          <p:cNvPr id="61" name="evidence-granovetter-stat"/>
          <p:cNvSpPr txBox="1"/>
          <p:nvPr/>
        </p:nvSpPr>
        <p:spPr>
          <a:xfrm>
            <a:off x="6172200" y="1527048"/>
            <a:ext cx="2377440" cy="566928"/>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83%</a:t>
            </a:r>
            <a:endParaRPr lang="en-US" sz="4000" dirty="0"/>
          </a:p>
        </p:txBody>
      </p:sp>
      <p:sp>
        <p:nvSpPr>
          <p:cNvPr id="62" name="evidence-granovetter-text"/>
          <p:cNvSpPr txBox="1"/>
          <p:nvPr/>
        </p:nvSpPr>
        <p:spPr>
          <a:xfrm>
            <a:off x="6172200" y="2130552"/>
            <a:ext cx="2377440" cy="786384"/>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of people who got a job through a contact saw that person only occasionally or rarely</a:t>
            </a:r>
            <a:endParaRPr lang="en-US" sz="1200" dirty="0"/>
          </a:p>
          <a:p>
            <a:pPr indent="0" marL="0">
              <a:spcAft>
                <a:spcPts val="300"/>
              </a:spcAft>
              <a:buNone/>
            </a:pPr>
            <a:r>
              <a:rPr lang="en-US" sz="1000" i="1" dirty="0">
                <a:solidFill>
                  <a:schemeClr val="tx2"/>
                </a:solidFill>
              </a:rPr>
              <a:t>Granovetter, AJS (1973)</a:t>
            </a:r>
            <a:endParaRPr lang="en-US" sz="1200" dirty="0"/>
          </a:p>
        </p:txBody>
      </p:sp>
      <p:sp>
        <p:nvSpPr>
          <p:cNvPr id="63" name="evidence-linkedin-card"/>
          <p:cNvSpPr/>
          <p:nvPr/>
        </p:nvSpPr>
        <p:spPr>
          <a:xfrm>
            <a:off x="5989320" y="3108960"/>
            <a:ext cx="2697480" cy="1572768"/>
          </a:xfrm>
          <a:prstGeom prst="roundRect">
            <a:avLst>
              <a:gd name="adj" fmla="val 4651"/>
            </a:avLst>
          </a:prstGeom>
          <a:solidFill>
            <a:schemeClr val="bg2"/>
          </a:solidFill>
          <a:ln/>
        </p:spPr>
      </p:sp>
      <p:sp>
        <p:nvSpPr>
          <p:cNvPr id="64" name="evidence-linkedin-stat"/>
          <p:cNvSpPr txBox="1"/>
          <p:nvPr/>
        </p:nvSpPr>
        <p:spPr>
          <a:xfrm>
            <a:off x="6172200" y="3218688"/>
            <a:ext cx="2377440" cy="566928"/>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20M+</a:t>
            </a:r>
            <a:endParaRPr lang="en-US" sz="4000" dirty="0"/>
          </a:p>
        </p:txBody>
      </p:sp>
      <p:sp>
        <p:nvSpPr>
          <p:cNvPr id="65" name="evidence-linkedin-text"/>
          <p:cNvSpPr txBox="1"/>
          <p:nvPr/>
        </p:nvSpPr>
        <p:spPr>
          <a:xfrm>
            <a:off x="6172200" y="3822192"/>
            <a:ext cx="2377440" cy="786384"/>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LinkedIn users in randomized tests: moderately weak ties drove the most job moves</a:t>
            </a:r>
            <a:endParaRPr lang="en-US" sz="1200" dirty="0"/>
          </a:p>
          <a:p>
            <a:pPr indent="0" marL="0">
              <a:spcAft>
                <a:spcPts val="300"/>
              </a:spcAft>
              <a:buNone/>
            </a:pPr>
            <a:r>
              <a:rPr lang="en-US" sz="1000" i="1" dirty="0">
                <a:solidFill>
                  <a:schemeClr val="tx2"/>
                </a:solidFill>
              </a:rPr>
              <a:t>Rajkumar et al., Science (2022)</a:t>
            </a:r>
            <a:endParaRPr lang="en-US" sz="1200" dirty="0"/>
          </a:p>
        </p:txBody>
      </p:sp>
    </p:spTree>
  </p:cSld>
  <p:clrMapOvr>
    <a:masterClrMapping/>
  </p:clrMapOvr>
</p:sld>
</file>

<file path=ppt/theme/theme1.xml><?xml version="1.0" encoding="utf-8"?>
<a:theme xmlns:a="http://schemas.openxmlformats.org/drawingml/2006/main" name="Weak Ties">
  <a:themeElements>
    <a:clrScheme name="Weak Ties">
      <a:dk1>
        <a:srgbClr val="1F2430"/>
      </a:dk1>
      <a:lt1>
        <a:srgbClr val="FFFFFF"/>
      </a:lt1>
      <a:dk2>
        <a:srgbClr val="5B6472"/>
      </a:dk2>
      <a:lt2>
        <a:srgbClr val="F1F3F6"/>
      </a:lt2>
      <a:accent1>
        <a:srgbClr val="E4572E"/>
      </a:accent1>
      <a:accent2>
        <a:srgbClr val="17A398"/>
      </a:accent2>
      <a:accent3>
        <a:srgbClr val="8C95A3"/>
      </a:accent3>
      <a:accent4>
        <a:srgbClr val="2E3A4F"/>
      </a:accent4>
      <a:accent5>
        <a:srgbClr val="F2A541"/>
      </a:accent5>
      <a:accent6>
        <a:srgbClr val="6C5CE7"/>
      </a:accent6>
      <a:hlink>
        <a:srgbClr val="17A398"/>
      </a:hlink>
      <a:folHlink>
        <a:srgbClr val="5B6472"/>
      </a:folHlink>
    </a:clrScheme>
    <a:fontScheme name="Weak Ti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strength of weak ties</dc:title>
  <dc:subject>PptxGenJS Presentation</dc:subject>
  <dc:creator>PptxGenJS</dc:creator>
  <cp:lastModifiedBy>PptxGenJS</cp:lastModifiedBy>
  <cp:revision>1</cp:revision>
  <dcterms:created xsi:type="dcterms:W3CDTF">2026-10-07T12:41:04Z</dcterms:created>
  <dcterms:modified xsi:type="dcterms:W3CDTF">2026-10-07T12:41:04Z</dcterms:modified>
</cp:coreProperties>
</file>